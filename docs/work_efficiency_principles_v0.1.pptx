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Workspace 공개 페이지 시작 화면은 정리 자체가 새 업무가 되지 않는 것을 가장 중요한 원칙으로 설명하고, 정리를 새 업무·착수·문제·완료·종료라는 업무 사건에 붙인다고 정의한다. https://prozac0401.github.io/Workspace/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정리의 목적은 현재 작업, 표준 원본, 종료 기록을 쉽게 찾고 인수인계하기 위한 것이다. 업무용 Work와 개발 저장소 Workspace는 별개 공간으로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페이지는 업무가 흐르는 네 단계를 어디에 둔다, 어떻게 시작한다, 어디까지 했나, 끝나면 어디로 보낸다로 설명한다. 같은 정보를 여러 곳에서 수정하지 말고 자동화는 반복되는 불편과 복구 방법이 명확할 때 추가한다.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10대 원칙은 사이트의 기본 운영·빠른 판단·업무 키트·파일과 이메일·보관·개선안에서 반복되는 기준을 헌장 형식으로 통합한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구조와 원본 문서는 정리 노동을 줄이는 원칙으로 최소 분류, 업무 사건 중심 정리, 원본 한 곳 수정을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폴더는 Inbox, Active, Operations, Reference, Archive, Temp 여섯 개를 제안한다. 반복 업무는 MASTER를 복사해 시작하고 MASTER 자체에서는 진행하지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FolderState는 폴더명과 업무파일을 유지하면서 Explorer 아이콘으로 진행상태를 표시한다. 파일과 이메일 문서는 이메일은 커뮤니케이션 원본, 업무 폴더는 결과물 원본이라고 정의한다.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진행·인수인계 개선안은 기본 운영의 필수 절차가 아니라 회신 누락·완료 판단·인수인계 문제가 반복될 때 해당 항목만 기존 기록에 추가한다고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업무 키트와 일정 문서는 Overview, Schedule, Checklist, Contacts, Issues/Decision Log 각각의 책임과 중복하지 않을 항목을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개선안은 기본 운영을 시작하기 위한 필수 절차가 아니며, 빠른 판단 기준과 업무 키트로 운영하다가 반복 문제 발생 시 해당 항목만 추가하라고 명시한다.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결정이 필요한 항목 페이지는 공통 설계와 회사 적용 설정을 구분하고, 실제 경로·계정·개인정보는 공개 저장소 밖의 내부 결정 기록에서 관리한다고 명시한다.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현재 대화에서 제안한 다음 고민 순서: 흐름 관리, 반복 업무 표준화, 입력 창구, 의사결정 기록, 업무 지식베이스, 자동화, Agent를 정리한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문장은 본 자료의 철학을 요약한 표현이다. 공개 페이지는 예시는 가상이며 실제 업무자료는 공개 문서에 저장하지 않는다고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 근거 URL: https://prozac0401.github.io/Workspace/, /quick-reference/, /policies/workspace/, /policies/kits/, /policies/files-email/, /policies/archive-security/, /policies/folder-workflow/, /policies/decisions/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low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F1A17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583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EDB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WORKSPACE / OPERATING HANDBOOK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792" y="13258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정리가 일이 되지 않는</a:t>
            </a:r>
            <a:endParaRPr lang="en-US" sz="3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운영 원칙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58368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EADF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5349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D8CDB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파일·폴더·이메일 정리 설계와 GitHub Pages 운영 기준을 기반으로 제정한 업무 철학 초안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sk_tall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731520" cy="6858000"/>
          </a:xfrm>
          <a:prstGeom prst="rect">
            <a:avLst/>
          </a:prstGeom>
          <a:solidFill>
            <a:srgbClr val="F7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제정 취지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깔끔한 정리가 아니라, 다시 일을 이어가기 위한 기준입니다.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83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“정리의 성공 기준은</a:t>
            </a:r>
            <a:endParaRPr lang="en-US" sz="31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깔끔함이 아니라</a:t>
            </a:r>
            <a:endParaRPr lang="en-US" sz="31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재개 가능성이다.”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49808" y="4014216"/>
            <a:ext cx="118872" cy="118872"/>
          </a:xfrm>
          <a:prstGeom prst="ellipse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찾을 수 있는가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7552" y="41788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자료·결정·결과물을 헤매지 않고 찾는다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" y="4636008"/>
            <a:ext cx="118872" cy="118872"/>
          </a:xfrm>
          <a:prstGeom prst="ellipse">
            <a:avLst/>
          </a:prstGeom>
          <a:solidFill>
            <a:srgbClr val="67735F"/>
          </a:solidFill>
          <a:ln w="12700">
            <a:solidFill>
              <a:srgbClr val="67735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4507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이어갈 수 있는가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48006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상태와 다음 행동을 한 번에 확인한다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" y="5257800"/>
            <a:ext cx="118872" cy="118872"/>
          </a:xfrm>
          <a:prstGeom prst="ellipse">
            <a:avLst/>
          </a:prstGeom>
          <a:solidFill>
            <a:srgbClr val="B46D4F"/>
          </a:solidFill>
          <a:ln w="12700">
            <a:solidFill>
              <a:srgbClr val="B46D4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5129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넘길 수 있는가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7552" y="54223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사람이 원본과 마감을 열람할 수 있다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기본철학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정리는 별도 프로젝트가 아니라 업무 사건에 붙는 작은 행동입니다.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64208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“정리하려고 시간을 만드는 것이 아니라,</a:t>
            </a:r>
            <a:endParaRPr lang="en-US" sz="2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일이 움직이는 순간에만</a:t>
            </a:r>
            <a:endParaRPr lang="en-US" sz="2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만큼 정리한다.”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75688" y="5093208"/>
            <a:ext cx="1353312" cy="0"/>
          </a:xfrm>
          <a:prstGeom prst="line">
            <a:avLst/>
          </a:prstGeom>
          <a:noFill/>
          <a:ln w="15240">
            <a:solidFill>
              <a:srgbClr val="7B6D5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36008" y="5093208"/>
            <a:ext cx="1353312" cy="0"/>
          </a:xfrm>
          <a:prstGeom prst="line">
            <a:avLst/>
          </a:prstGeom>
          <a:noFill/>
          <a:ln w="15240">
            <a:solidFill>
              <a:srgbClr val="7B6D5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96328" y="5093208"/>
            <a:ext cx="1353312" cy="0"/>
          </a:xfrm>
          <a:prstGeom prst="line">
            <a:avLst/>
          </a:prstGeom>
          <a:noFill/>
          <a:ln w="15240">
            <a:solidFill>
              <a:srgbClr val="7B6D5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4800600"/>
            <a:ext cx="594360" cy="594360"/>
          </a:xfrm>
          <a:prstGeom prst="ellipse">
            <a:avLst/>
          </a:prstGeom>
          <a:solidFill>
            <a:srgbClr val="B98C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92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4773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둔다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00200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Inbox / Active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4800600"/>
            <a:ext cx="594360" cy="594360"/>
          </a:xfrm>
          <a:prstGeom prst="ellipse">
            <a:avLst/>
          </a:prstGeom>
          <a:solidFill>
            <a:srgbClr val="6773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892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4773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시작한다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60520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복사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4800600"/>
            <a:ext cx="594360" cy="594360"/>
          </a:xfrm>
          <a:prstGeom prst="ellipse">
            <a:avLst/>
          </a:prstGeom>
          <a:solidFill>
            <a:srgbClr val="6F89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892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773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어디까지 했나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상태·일정·결정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49640" y="4800600"/>
            <a:ext cx="594360" cy="594360"/>
          </a:xfrm>
          <a:prstGeom prst="ellipse">
            <a:avLst/>
          </a:prstGeom>
          <a:solidFill>
            <a:srgbClr val="B46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4892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4773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끝나면 보낸다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5102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Archive 이동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10대 기본원칙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 열 가지 문장을 업무효율화·정리정돈의 공통 판단 기준으로 둡니다.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44752" y="17099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정리는 일이 되지 않아야 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44752" y="213055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24414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분류만 유지한다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44752" y="286207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82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31729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사건에 정리를 붙인다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44752" y="359359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136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44752" y="39044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원본은 하나만 둔다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44752" y="432511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45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4636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업무는 컨테이너 단위로 관리한다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44752" y="505663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190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17099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MASTER는 미착수 상태로 보존한다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48272" y="213055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48272" y="24414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상태는 경로가 아니라 메타데이터다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48272" y="286207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82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8272" y="31729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메일은 대화 원본, 폴더는 결과물 원본이다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48272" y="359359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9136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48272" y="39044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 이유를 남긴다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748272" y="432511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645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8272" y="4636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자동화는 반복된 불편 뒤에 붙인다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748272" y="5056632"/>
            <a:ext cx="4023360" cy="32004"/>
          </a:xfrm>
          <a:prstGeom prst="rect">
            <a:avLst/>
          </a:prstGeom>
          <a:solidFill>
            <a:srgbClr val="E0D3C4"/>
          </a:solidFill>
          <a:ln w="12700">
            <a:solidFill>
              <a:srgbClr val="E0D3C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1591056"/>
            <a:ext cx="11777472" cy="37947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E2CDB6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low_tall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28600"/>
            <a:ext cx="5074920" cy="5897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640" y="0"/>
            <a:ext cx="594360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1–3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덜 분류하고, 일이 움직일 때만 정리합니다.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7190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53312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정리는 일이 되지 않아야 한다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371600" y="206654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찾고, 이어가고, 넘길 수 있으면 충분합니다.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758952" y="2953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53312" y="2898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분류만 유지한다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371600" y="330098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Inbox는 판단을 미루는 곳입니다. 매일 비우기와 전면 재정리를 목표로 삼지 않습니다.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758952" y="4187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46D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3312" y="4133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사건에 정리를 붙인다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371600" y="453542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업무·착수·문제·완료·종료 순간에 위치·상태·근거만 남깁니다.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4–6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업무는 컨테이너로 시작하고, 표준은 MASTER로 지킵니다.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E7D8C6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019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00_Inbox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1901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위치를 정하지 않은 새 자료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B98C4B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420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10_Active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2542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진행하는 회차 전체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67735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20_Operations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3182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· Playbook · Guide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6F89A6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221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40_Reference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업무에서 참고하는 정책·매뉴얼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B46D4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622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80_Archive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23160" y="4462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종료된 업무 컨테이너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4114800" cy="420624"/>
          </a:xfrm>
          <a:prstGeom prst="roundRect">
            <a:avLst>
              <a:gd name="adj" fmla="val 10870"/>
            </a:avLst>
          </a:prstGeom>
          <a:solidFill>
            <a:srgbClr val="CFC6B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023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90_Temp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23160" y="5102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없어져도 기록 손실 없는 임시자료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760720" y="1847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5936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원본은 하나만 둔다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64224" y="2212848"/>
            <a:ext cx="480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6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명단·일정·결과물·결정 이유는 원본을 하나만 정합니다.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5760720" y="3081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5936" y="3063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업무는 컨테이너 단위로 관리한다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3447288"/>
            <a:ext cx="480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6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독립적인 목적·일정·결과물이 있을 때만 새 컨테이너를 만듭니다.</a:t>
            </a:r>
            <a:endParaRPr lang="en-US" sz="1360" dirty="0"/>
          </a:p>
        </p:txBody>
      </p:sp>
      <p:sp>
        <p:nvSpPr>
          <p:cNvPr id="29" name="Text 27"/>
          <p:cNvSpPr/>
          <p:nvPr/>
        </p:nvSpPr>
        <p:spPr>
          <a:xfrm>
            <a:off x="5760720" y="4315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46D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5936" y="4297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MASTER는 미착수 상태로 보존한다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64224" y="4681728"/>
            <a:ext cx="480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6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실업무는 복사본에서 진행하고, 진행 중 회차를 자동 덮어쓰지 않습니다.</a:t>
            </a:r>
            <a:endParaRPr lang="en-US" sz="1360" dirty="0"/>
          </a:p>
        </p:txBody>
      </p:sp>
      <p:sp>
        <p:nvSpPr>
          <p:cNvPr id="32" name="Text 30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7–8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상태와 원본의 역할을 섞지 않습니다.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559552"/>
            <a:ext cx="329184" cy="329184"/>
          </a:xfrm>
          <a:prstGeom prst="ellipse">
            <a:avLst/>
          </a:prstGeom>
          <a:solidFill>
            <a:srgbClr val="E7D8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618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미착수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39112" y="5559552"/>
            <a:ext cx="329184" cy="329184"/>
          </a:xfrm>
          <a:prstGeom prst="ellipse">
            <a:avLst/>
          </a:prstGeom>
          <a:solidFill>
            <a:srgbClr val="6F89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4792" y="59618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63824" y="5559552"/>
            <a:ext cx="329184" cy="329184"/>
          </a:xfrm>
          <a:prstGeom prst="ellipse">
            <a:avLst/>
          </a:prstGeom>
          <a:solidFill>
            <a:srgbClr val="7E9B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59618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5559552"/>
            <a:ext cx="329184" cy="329184"/>
          </a:xfrm>
          <a:prstGeom prst="ellipse">
            <a:avLst/>
          </a:prstGeom>
          <a:solidFill>
            <a:srgbClr val="B85B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59618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18470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“상태는 폴더명에 넣지 않고,</a:t>
            </a:r>
            <a:endParaRPr lang="en-US" sz="21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경로를 흔들지 않는</a:t>
            </a:r>
            <a:endParaRPr lang="en-US" sz="21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1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메타데이터로 둔다.”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72784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상태는 경로가 아니라 메타데이터다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76288" y="2267712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폴더명을 바꾸면 링크와 스크립트가 흔들립니다. 상태는 아이콘·메타데이터로 둡니다.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272784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364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메일은 대화 원본, 폴더는 결과물 원본이다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76288" y="38221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메일은 요청·승인·맥락, 업무 폴더는 결과물과 제출본을 보존합니다.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ars_tall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0760" y="0"/>
            <a:ext cx="685800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9–10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기록할 것은 전문이 아니라 판단의 이유, 자동화할 것은 반복된 불편입니다.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46D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 이유를 남긴다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88" y="23317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나중의 핵심 질문은 “왜 이렇게 했지?”입니다. 결정·이유·근거 위치만 짧게 남깁니다.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5844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3538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자동화는 반복된 불편 뒤에 붙인다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89888" y="399592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누락·재작업·인수인계 문제가 반복될 때만 도구를 붙입니다.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32688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후보의 조건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32688" y="5413248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E6D6C3"/>
          </a:solidFill>
          <a:ln w="12700">
            <a:solidFill>
              <a:srgbClr val="E6D6C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54635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반복된다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03120" y="5413248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D5B895"/>
          </a:solidFill>
          <a:ln w="12700">
            <a:solidFill>
              <a:srgbClr val="D5B89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9424" y="54635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규칙이 있다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73552" y="5413248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C6CDB9"/>
          </a:solidFill>
          <a:ln w="12700">
            <a:solidFill>
              <a:srgbClr val="C6CDB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19856" y="54635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실수하기 쉽다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43984" y="5413248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E6C6B8"/>
          </a:solidFill>
          <a:ln w="12700">
            <a:solidFill>
              <a:srgbClr val="E6C6B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0288" y="54635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판단이 적다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모델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 정리 체계가 아니라, 일이 들어와서 사라지는 작은 Work OS입니다.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3227832"/>
            <a:ext cx="1051560" cy="0"/>
          </a:xfrm>
          <a:prstGeom prst="line">
            <a:avLst/>
          </a:prstGeom>
          <a:noFill/>
          <a:ln w="19050">
            <a:solidFill>
              <a:srgbClr val="D5B89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63440" y="3227832"/>
            <a:ext cx="1097280" cy="0"/>
          </a:xfrm>
          <a:prstGeom prst="line">
            <a:avLst/>
          </a:prstGeom>
          <a:noFill/>
          <a:ln w="19050">
            <a:solidFill>
              <a:srgbClr val="D5B89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86600" y="3227832"/>
            <a:ext cx="1143000" cy="0"/>
          </a:xfrm>
          <a:prstGeom prst="line">
            <a:avLst/>
          </a:prstGeom>
          <a:noFill/>
          <a:ln w="19050">
            <a:solidFill>
              <a:srgbClr val="D5B89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55480" y="3227832"/>
            <a:ext cx="960120" cy="0"/>
          </a:xfrm>
          <a:prstGeom prst="line">
            <a:avLst/>
          </a:prstGeom>
          <a:noFill/>
          <a:ln w="19050">
            <a:solidFill>
              <a:srgbClr val="D5B89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2423160"/>
            <a:ext cx="1298448" cy="1298448"/>
          </a:xfrm>
          <a:prstGeom prst="ellipse">
            <a:avLst/>
          </a:prstGeom>
          <a:solidFill>
            <a:srgbClr val="E7D8C6">
              <a:alpha val="95000"/>
            </a:srgbClr>
          </a:solidFill>
          <a:ln w="15240">
            <a:solidFill>
              <a:srgbClr val="E7D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68833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29626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메일·Teams</a:t>
            </a:r>
            <a:endParaRPr lang="en-US" sz="97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전화·파일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063240" y="2423160"/>
            <a:ext cx="1298448" cy="1298448"/>
          </a:xfrm>
          <a:prstGeom prst="ellipse">
            <a:avLst/>
          </a:prstGeom>
          <a:solidFill>
            <a:srgbClr val="B98C4B">
              <a:alpha val="95000"/>
            </a:srgbClr>
          </a:solidFill>
          <a:ln w="15240">
            <a:solidFill>
              <a:srgbClr val="B98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268833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보류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9626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00_Inbox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486400" y="2423160"/>
            <a:ext cx="1298448" cy="1298448"/>
          </a:xfrm>
          <a:prstGeom prst="ellipse">
            <a:avLst/>
          </a:prstGeom>
          <a:solidFill>
            <a:srgbClr val="67735F">
              <a:alpha val="95000"/>
            </a:srgbClr>
          </a:solidFill>
          <a:ln w="15240">
            <a:solidFill>
              <a:srgbClr val="6773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68833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업무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6128" y="29626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10_Active</a:t>
            </a:r>
            <a:endParaRPr lang="en-US" sz="97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회차 컨테이너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01000" y="2423160"/>
            <a:ext cx="1298448" cy="1298448"/>
          </a:xfrm>
          <a:prstGeom prst="ellipse">
            <a:avLst/>
          </a:prstGeom>
          <a:solidFill>
            <a:srgbClr val="6F89A6">
              <a:alpha val="95000"/>
            </a:srgbClr>
          </a:solidFill>
          <a:ln w="15240">
            <a:solidFill>
              <a:srgbClr val="6F89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268833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확인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10728" y="29626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FolderState</a:t>
            </a:r>
            <a:endParaRPr lang="en-US" sz="97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</a:t>
            </a:r>
            <a:endParaRPr lang="en-US" sz="97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Decision Log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10104120" y="2423160"/>
            <a:ext cx="1298448" cy="1298448"/>
          </a:xfrm>
          <a:prstGeom prst="ellipse">
            <a:avLst/>
          </a:prstGeom>
          <a:solidFill>
            <a:srgbClr val="B46D4F">
              <a:alpha val="95000"/>
            </a:srgbClr>
          </a:solidFill>
          <a:ln w="15240">
            <a:solidFill>
              <a:srgbClr val="B46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13848" y="2688336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13848" y="29626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80_Archive</a:t>
            </a:r>
            <a:endParaRPr lang="en-US" sz="97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7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통째로 보관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143000" y="4828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운영현황은 “모든 정보를 한 곳에 복제”하는 대장이 아닙니다.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2144" y="530352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Overview는 원본과 역할, Schedule은 마감, Checklist는 단계 확인, Issues/Decision Log는 문제와 결정만 담당합니다.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ocess_visual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736592"/>
            <a:ext cx="320040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4736592"/>
            <a:ext cx="3200400" cy="1280160"/>
          </a:xfrm>
          <a:prstGeom prst="rect">
            <a:avLst/>
          </a:prstGeom>
          <a:solidFill>
            <a:srgbClr val="FBF7F0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 로드맵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전체 업무를 갈아엎지 말고, 한 회차에서 검증합니다.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0" y="2880360"/>
            <a:ext cx="493776" cy="0"/>
          </a:xfrm>
          <a:prstGeom prst="line">
            <a:avLst/>
          </a:prstGeom>
          <a:noFill/>
          <a:ln w="13970">
            <a:solidFill>
              <a:srgbClr val="826F5D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822960" y="2121408"/>
            <a:ext cx="1554480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E1D4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2494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7552" y="26334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회차만 선정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" y="29992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중이거나 곧 시작할 반복 업무 하나</a:t>
            </a:r>
            <a:endParaRPr lang="en-US" sz="990" dirty="0"/>
          </a:p>
        </p:txBody>
      </p:sp>
      <p:sp>
        <p:nvSpPr>
          <p:cNvPr id="12" name="Shape 9"/>
          <p:cNvSpPr/>
          <p:nvPr/>
        </p:nvSpPr>
        <p:spPr>
          <a:xfrm>
            <a:off x="4443984" y="2880360"/>
            <a:ext cx="493776" cy="0"/>
          </a:xfrm>
          <a:prstGeom prst="line">
            <a:avLst/>
          </a:prstGeom>
          <a:noFill/>
          <a:ln w="13970">
            <a:solidFill>
              <a:srgbClr val="826F5D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80944" y="2121408"/>
            <a:ext cx="1554480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E1D4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0672" y="22494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45536" y="26334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복사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145536" y="29992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미착수 상태의 표준을 Active로 복제</a:t>
            </a:r>
            <a:endParaRPr lang="en-US" sz="990" dirty="0"/>
          </a:p>
        </p:txBody>
      </p:sp>
      <p:sp>
        <p:nvSpPr>
          <p:cNvPr id="17" name="Shape 14"/>
          <p:cNvSpPr/>
          <p:nvPr/>
        </p:nvSpPr>
        <p:spPr>
          <a:xfrm>
            <a:off x="6601968" y="2880360"/>
            <a:ext cx="493776" cy="0"/>
          </a:xfrm>
          <a:prstGeom prst="line">
            <a:avLst/>
          </a:prstGeom>
          <a:noFill/>
          <a:ln w="13970">
            <a:solidFill>
              <a:srgbClr val="826F5D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138928" y="2121408"/>
            <a:ext cx="1554480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E1D4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48656" y="22494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F89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3520" y="26334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상태·일정만 표시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303520" y="29992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FolderState, Schedule, Decision Log 최소 적용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8759952" y="2880360"/>
            <a:ext cx="493776" cy="0"/>
          </a:xfrm>
          <a:prstGeom prst="line">
            <a:avLst/>
          </a:prstGeom>
          <a:noFill/>
          <a:ln w="13970">
            <a:solidFill>
              <a:srgbClr val="826F5D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296912" y="2121408"/>
            <a:ext cx="1554480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E1D4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22494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46D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61504" y="26334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 때 검증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61504" y="29992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WHAT·WHEN·WHO·WHY를 찾을 수 있는지 확인</a:t>
            </a:r>
            <a:endParaRPr lang="en-US" sz="990" dirty="0"/>
          </a:p>
        </p:txBody>
      </p:sp>
      <p:sp>
        <p:nvSpPr>
          <p:cNvPr id="27" name="Shape 24"/>
          <p:cNvSpPr/>
          <p:nvPr/>
        </p:nvSpPr>
        <p:spPr>
          <a:xfrm>
            <a:off x="9454896" y="2121408"/>
            <a:ext cx="1554480" cy="1517904"/>
          </a:xfrm>
          <a:prstGeom prst="roundRect">
            <a:avLst>
              <a:gd name="adj" fmla="val 54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E1D4C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64624" y="22494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19488" y="26334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불편만 보강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619488" y="29992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9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회신 누락·인수인계 등 반복 문제만 선택 개선</a:t>
            </a:r>
            <a:endParaRPr lang="en-US" sz="990" dirty="0"/>
          </a:p>
        </p:txBody>
      </p:sp>
      <p:sp>
        <p:nvSpPr>
          <p:cNvPr id="31" name="Text 28"/>
          <p:cNvSpPr/>
          <p:nvPr/>
        </p:nvSpPr>
        <p:spPr>
          <a:xfrm>
            <a:off x="1078992" y="473659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5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“기본 흐름으로 충분하면 멈추고,</a:t>
            </a:r>
            <a:endParaRPr lang="en-US" sz="25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5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불편이 있을 때만</a:t>
            </a:r>
            <a:endParaRPr lang="en-US" sz="25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5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기록과 도구를 더한다.”</a:t>
            </a:r>
            <a:endParaRPr lang="en-US" sz="2500" dirty="0"/>
          </a:p>
        </p:txBody>
      </p:sp>
      <p:sp>
        <p:nvSpPr>
          <p:cNvPr id="32" name="Text 29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확정해야 할 결정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원칙과 회사 적용 설정을 구분합니다. 미확정 항목을 승인된 정책처럼 표현하지 않습니다.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6D7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146304" cy="1371600"/>
          </a:xfrm>
          <a:prstGeom prst="rect">
            <a:avLst/>
          </a:prstGeom>
          <a:solidFill>
            <a:srgbClr val="B98C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공간·구조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957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DEC-001 Work 루트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DEC-002 기본 구조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DEC-003 MASTER 종류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6D7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146304" cy="1371600"/>
          </a:xfrm>
          <a:prstGeom prst="rect">
            <a:avLst/>
          </a:prstGeom>
          <a:solidFill>
            <a:srgbClr val="6773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원본·상태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957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DEC-008 원본 시스템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DEC-014 운영현황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DEC-015 Decision Log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88620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6D7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86200"/>
            <a:ext cx="146304" cy="1371600"/>
          </a:xfrm>
          <a:prstGeom prst="rect">
            <a:avLst/>
          </a:prstGeom>
          <a:solidFill>
            <a:srgbClr val="B46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1016" y="4087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보안·공개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DEC-010 보안 저장소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DEC-011 개인·공유 경계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DEC-016 Contacts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6D7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146304" cy="1371600"/>
          </a:xfrm>
          <a:prstGeom prst="rect">
            <a:avLst/>
          </a:prstGeom>
          <a:solidFill>
            <a:srgbClr val="6F89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4087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보존·복구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4531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DEC-009 보존기간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DEC-012 백업</a:t>
            </a:r>
            <a:endParaRPr lang="en-US" sz="125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DEC-019 Archive 점검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57607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제정의 핵심은 “무엇을 정했는가”보다 “아직 무엇을 조직에서 정해야 하는가”를 숨기지 않는 것입니다.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ars_tall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고민의 순서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파일·이메일 정리 다음에는 “업무가 흘러가는 구조”를 봅니다.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7282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70078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흐름 관리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31920" y="171907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일·다음 행동·대기·완료조건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04672" y="235000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7008" y="232257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업무 표준화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931920" y="234086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키트와 MASTER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04672" y="29718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6F89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07008" y="294436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창구 정리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931920" y="296265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메일·Teams·전화·파일의 WORK INBOX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04672" y="35935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6D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07008" y="356616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 기록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931920" y="358444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그렇게 했는지 남기는 Decision Log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04672" y="42153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6773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07008" y="418795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가능한 지식베이스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931920" y="42062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Wiki는 결과물이 아니라 축적된 지식의 보기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804672" y="48371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98C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07008" y="48097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자동화와 Agent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3931920" y="482803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불편이 검증된 뒤에 도구화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sk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7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777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EEDB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문장으로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1664208"/>
            <a:ext cx="9784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정리정돈은 일을 더 많이 하기 위한 체계가 아니라,</a:t>
            </a:r>
            <a:endParaRPr lang="en-US" sz="290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일이 흩어질 때 나를 덜 흔들리게 하는</a:t>
            </a:r>
            <a:endParaRPr lang="en-US" sz="290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업무의 안전장치입니다.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86384" y="5687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DED2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기본원칙 v0.1 · 제안 단계 · 실제 경로·계정·개인정보는 공개 문서 밖에서 관리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근거와 사용 범위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자료는 공개 페이지의 운영 기준과 현재 논의 내용을 종합한 제안 문서입니다.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35608"/>
            <a:ext cx="914400" cy="32004"/>
          </a:xfrm>
          <a:prstGeom prst="rect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문서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118872" cy="118872"/>
          </a:xfrm>
          <a:prstGeom prst="ellipse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391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Workspace · 업무 운영 기준: 정리가 일이 되지 않는 기준, 업무가 흐르는 네 단계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932688" y="2496312"/>
            <a:ext cx="118872" cy="118872"/>
          </a:xfrm>
          <a:prstGeom prst="ellipse">
            <a:avLst/>
          </a:prstGeom>
          <a:solidFill>
            <a:srgbClr val="67735F"/>
          </a:solidFill>
          <a:ln w="12700">
            <a:solidFill>
              <a:srgbClr val="67735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386584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판단 기준: Inbox / Active / Operations / Reference / Archive / Temp 판단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932688" y="2843784"/>
            <a:ext cx="118872" cy="118872"/>
          </a:xfrm>
          <a:prstGeom prst="ellipse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73405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구조와 원본: 최소 분류, 원본 한 곳, 회사 기준 우선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932688" y="3191256"/>
            <a:ext cx="118872" cy="118872"/>
          </a:xfrm>
          <a:prstGeom prst="ellipse">
            <a:avLst/>
          </a:prstGeom>
          <a:solidFill>
            <a:srgbClr val="67735F"/>
          </a:solidFill>
          <a:ln w="12700">
            <a:solidFill>
              <a:srgbClr val="67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081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키트와 일정: MASTER 복사, 운영현황, 업무 사건과 상태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932688" y="3538728"/>
            <a:ext cx="118872" cy="118872"/>
          </a:xfrm>
          <a:prstGeom prst="ellipse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2900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파일과 이메일: 파일명, 메일함, 메일과 파일의 역할 분리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932688" y="3886200"/>
            <a:ext cx="118872" cy="118872"/>
          </a:xfrm>
          <a:prstGeom prst="ellipse">
            <a:avLst/>
          </a:prstGeom>
          <a:solidFill>
            <a:srgbClr val="67735F"/>
          </a:solidFill>
          <a:ln w="12700">
            <a:solidFill>
              <a:srgbClr val="67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77647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보관·보안·백업: 보관, 접근통제, 공개 범위, 복원 시험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932688" y="4233672"/>
            <a:ext cx="118872" cy="118872"/>
          </a:xfrm>
          <a:prstGeom prst="ellipse">
            <a:avLst/>
          </a:prstGeom>
          <a:solidFill>
            <a:srgbClr val="B98C4B"/>
          </a:solidFill>
          <a:ln w="12700">
            <a:solidFill>
              <a:srgbClr val="B98C4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123944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진행·인수인계 개선안: 반복되는 불편이 있을 때만 선택 적용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932688" y="4581144"/>
            <a:ext cx="118872" cy="118872"/>
          </a:xfrm>
          <a:prstGeom prst="ellipse">
            <a:avLst/>
          </a:prstGeom>
          <a:solidFill>
            <a:srgbClr val="67735F"/>
          </a:solidFill>
          <a:ln w="12700">
            <a:solidFill>
              <a:srgbClr val="67735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47141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40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결정이 필요한 항목: 조직에서 확정해야 할 DEC 목록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822960" y="5230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2C26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원칙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557784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20" dirty="0">
                <a:solidFill>
                  <a:srgbClr val="6E62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조직의 공식 저장 위치·권한·보존기간·백업 기준이 우선입니다. 이 자료는 업무 담당자의 판단 기준을 맞추기 위한 v0.1 제안이며, 실제 업무 효과는 한 회차 시범 적용 후 검증합니다.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1148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C81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업무효율화·정리정돈 기본원칙 v0.1  ·  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정리가 일이 되지 않는 업무 운영 원칙</dc:title>
  <dc:subject>업무효율화·정리정돈 기본원칙</dc:subject>
  <dc:creator>OpenAI</dc:creator>
  <cp:lastModifiedBy>OpenAI</cp:lastModifiedBy>
  <cp:revision>1</cp:revision>
  <dcterms:created xsi:type="dcterms:W3CDTF">2026-09-12T08:42:56Z</dcterms:created>
  <dcterms:modified xsi:type="dcterms:W3CDTF">2026-09-12T08:42:56Z</dcterms:modified>
</cp:coreProperties>
</file>